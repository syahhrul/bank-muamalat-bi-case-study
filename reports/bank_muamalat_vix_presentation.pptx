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EAcpltvn0WSXlTWCPCBOtfeW55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A287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0" y="-1645920"/>
            <a:ext cx="4572000" cy="4572000"/>
          </a:xfrm>
          <a:prstGeom prst="ellipse">
            <a:avLst/>
          </a:prstGeom>
          <a:solidFill>
            <a:srgbClr val="4CAF50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A5D6A7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4CAF5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11480" y="68580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VIRTUAL INTERNSHIP EXPERIENCE  ·  BANK MUAMALAT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411480" y="1051560"/>
            <a:ext cx="713232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Case Study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11480" y="3063240"/>
            <a:ext cx="36576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411480" y="3218688"/>
            <a:ext cx="6858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Analisis Penjualan PT Sejahtera Bersama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11480" y="3542415"/>
            <a:ext cx="4572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Syahrul Mubarak</a:t>
            </a: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543800" y="3931920"/>
            <a:ext cx="1234440" cy="9601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256032" y="1280160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Daftar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Isi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56032" y="41148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Bank Muamalat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BI Analyst Track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383280" y="530352"/>
            <a:ext cx="512064" cy="51206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383280" y="53035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023360" y="457200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Primary Key &amp; SQL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023360" y="768096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Identifikasi PK dan query ALTER TABLE pada 4 tabel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023360" y="1097280"/>
            <a:ext cx="4800600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383280" y="1417320"/>
            <a:ext cx="512064" cy="51206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383280" y="141732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023360" y="1344168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Table Relationship &amp; FK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023360" y="1655064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Atribut lengkap, ERD, dan query Foreign Key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023360" y="1984248"/>
            <a:ext cx="4800600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383280" y="2304288"/>
            <a:ext cx="512064" cy="51206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383280" y="23042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023360" y="2231136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Master Table (SQL)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023360" y="2542032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LEFT JOIN untuk menggabungkan 4 tabel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023360" y="2871216"/>
            <a:ext cx="4800600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383280" y="3191256"/>
            <a:ext cx="512064" cy="51206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3383280" y="3191256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023360" y="3118104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Dashboard Looker Studio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023360" y="3429000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Visualisasi interaktif data penjualan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023360" y="3758184"/>
            <a:ext cx="4800600" cy="18288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383280" y="4078224"/>
            <a:ext cx="512064" cy="51206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383280" y="4078224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023360" y="4005072"/>
            <a:ext cx="4800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Rekomendasi Bisnis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023360" y="4315968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Strategi mempertahankan &amp; meningkatkan penjualan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5029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11480" y="2999232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1148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Identifikasi kunci utama pada 4 tabel dan implementasi SQL di BigQuery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1  ·  Primary Key pada 4 Tabel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292608" y="91440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292608" y="914400"/>
            <a:ext cx="4160520" cy="402336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420624" y="914400"/>
            <a:ext cx="3913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 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20624" y="14173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3FA0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20624" y="1600200"/>
            <a:ext cx="3913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CustomerID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20624" y="1993392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Unik per pelanggan. FK di tabel orders merujuk ke kolom ini.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4773168" y="91440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773168" y="914400"/>
            <a:ext cx="4160520" cy="40233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4901184" y="914400"/>
            <a:ext cx="3913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  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901184" y="141732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901184" y="1600200"/>
            <a:ext cx="3913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OrderID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901184" y="1993392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Unik per transaksi. Berisi FK ke customers dan products.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292608" y="28803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292608" y="2880360"/>
            <a:ext cx="416052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20624" y="2880360"/>
            <a:ext cx="3913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  product_category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20624" y="3383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20624" y="3566160"/>
            <a:ext cx="3913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CategoryID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20624" y="3959352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Unik per kategori. FK di tabel products merujuk ke sini.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773168" y="2880360"/>
            <a:ext cx="416052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4773168" y="2880360"/>
            <a:ext cx="4160520" cy="402336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901184" y="2880360"/>
            <a:ext cx="3913632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  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901184" y="3383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E06C75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901184" y="3566160"/>
            <a:ext cx="39136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ProdNum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901184" y="3959352"/>
            <a:ext cx="391363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Unik per produk. Menghubungkan produk ke kategori &amp; pesanan.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1  ·  SQL Query – ALTER TABLE Primary Key (BigQuery)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292608" y="896112"/>
            <a:ext cx="8558784" cy="4041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292608" y="896112"/>
            <a:ext cx="8558784" cy="347472"/>
          </a:xfrm>
          <a:prstGeom prst="rect">
            <a:avLst/>
          </a:prstGeom>
          <a:solidFill>
            <a:srgbClr val="4A28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29768" y="978408"/>
            <a:ext cx="164592" cy="164592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722376" y="978408"/>
            <a:ext cx="164592" cy="164592"/>
          </a:xfrm>
          <a:prstGeom prst="ellipse">
            <a:avLst/>
          </a:prstGeom>
          <a:solidFill>
            <a:srgbClr val="E5C0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014984" y="978408"/>
            <a:ext cx="164592" cy="164592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481328" y="941832"/>
            <a:ext cx="718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BB2BF"/>
                </a:solidFill>
                <a:latin typeface="Calibri"/>
                <a:ea typeface="Calibri"/>
                <a:cs typeface="Calibri"/>
                <a:sym typeface="Calibri"/>
              </a:rPr>
              <a:t>BigQuery SQL – Primary Key Constraints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457200" y="130759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Customers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7200" y="1522476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`bank-muamalat-493716.bank_muamalat.customers`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457200" y="1737360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ADD PRIMARY KEY (CustomerID)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1801368"/>
            <a:ext cx="8302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" y="2167128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Orders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57200" y="238201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`bank-muamalat-493716.bank_muamalat.orders`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57200" y="2596896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ADD PRIMARY KEY (OrderID)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57200" y="2459736"/>
            <a:ext cx="8302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57200" y="3026664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Product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3241548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`bank-muamalat-493716.bank_muamalat.product_category`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457200" y="345643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ADD PRIMARY KEY (CategoryID)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457200" y="3118104"/>
            <a:ext cx="83027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57200" y="3886200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Products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4101084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`bank-muamalat-493716.bank_muamalat.products`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4315968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ADD PRIMARY KEY (ProdNumber)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ℹ  NOT ENFORCED digunakan karena BigQuery tidak melakukan validasi constraint secara otomatis, namun tetap mendokumentasikan relasi.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11480" y="5029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1148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Relationship &amp; FK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11480" y="2999232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1148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Atribut lengkap, Entity Relationship, dan query Foreign Key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2  ·  Entity Relationship Diagram – Atribut Lengkap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74320" y="914400"/>
            <a:ext cx="2560320" cy="36576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74320" y="9144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product_category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74320" y="1280160"/>
            <a:ext cx="2560320" cy="1097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65760" y="1371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B3FA0"/>
                </a:solidFill>
                <a:latin typeface="Consolas"/>
                <a:ea typeface="Consolas"/>
                <a:cs typeface="Consolas"/>
                <a:sym typeface="Consolas"/>
              </a:rPr>
              <a:t>PK  CategoryID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65760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CategoryName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65760" y="1920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CategoryAbbreviation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291840" y="914400"/>
            <a:ext cx="256032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291840" y="9144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291840" y="1280160"/>
            <a:ext cx="2560320" cy="1371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PK  ProdNumber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83280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3383280" y="1920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FK  Category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38328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309360" y="914400"/>
            <a:ext cx="256032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6309360" y="91440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309360" y="1280160"/>
            <a:ext cx="256032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6400800" y="13716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4CAF50"/>
                </a:solidFill>
                <a:latin typeface="Consolas"/>
                <a:ea typeface="Consolas"/>
                <a:cs typeface="Consolas"/>
                <a:sym typeface="Consolas"/>
              </a:rPr>
              <a:t>PK  CustomerID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400800" y="16459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FirstName / LastName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400800" y="1920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CustomerEmail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400800" y="21945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CustomerPhone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400800" y="24688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CustomerAddress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6400800" y="27432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CustomerCity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400800" y="30175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CustomerState / Zip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291840" y="30175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3291840" y="3383280"/>
            <a:ext cx="256032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383280" y="3474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PK  OrderID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3383280" y="37490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383280" y="402336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FK  CustomerID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FK  ProdNumber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383280" y="45720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Quantity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7"/>
          <p:cNvCxnSpPr/>
          <p:nvPr/>
        </p:nvCxnSpPr>
        <p:spPr>
          <a:xfrm>
            <a:off x="2834640" y="155448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6B3FA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8" name="Google Shape;188;p7"/>
          <p:cNvSpPr/>
          <p:nvPr/>
        </p:nvSpPr>
        <p:spPr>
          <a:xfrm>
            <a:off x="2560320" y="1298448"/>
            <a:ext cx="777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3FA0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7"/>
          <p:cNvCxnSpPr/>
          <p:nvPr/>
        </p:nvCxnSpPr>
        <p:spPr>
          <a:xfrm>
            <a:off x="4572000" y="2651760"/>
            <a:ext cx="0" cy="365760"/>
          </a:xfrm>
          <a:prstGeom prst="straightConnector1">
            <a:avLst/>
          </a:prstGeom>
          <a:noFill/>
          <a:ln cap="flat" cmpd="sng" w="25400">
            <a:solidFill>
              <a:srgbClr val="3B82F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0" name="Google Shape;190;p7"/>
          <p:cNvSpPr/>
          <p:nvPr/>
        </p:nvSpPr>
        <p:spPr>
          <a:xfrm>
            <a:off x="4663440" y="274320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7"/>
          <p:cNvCxnSpPr/>
          <p:nvPr/>
        </p:nvCxnSpPr>
        <p:spPr>
          <a:xfrm>
            <a:off x="6400800" y="3474720"/>
            <a:ext cx="0" cy="594360"/>
          </a:xfrm>
          <a:prstGeom prst="straightConnector1">
            <a:avLst/>
          </a:prstGeom>
          <a:noFill/>
          <a:ln cap="flat" cmpd="sng" w="25400">
            <a:solidFill>
              <a:srgbClr val="4CAF5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92" name="Google Shape;192;p7"/>
          <p:cNvCxnSpPr/>
          <p:nvPr/>
        </p:nvCxnSpPr>
        <p:spPr>
          <a:xfrm>
            <a:off x="5852160" y="4069080"/>
            <a:ext cx="548640" cy="0"/>
          </a:xfrm>
          <a:prstGeom prst="straightConnector1">
            <a:avLst/>
          </a:prstGeom>
          <a:noFill/>
          <a:ln cap="flat" cmpd="sng" w="25400">
            <a:solidFill>
              <a:srgbClr val="4CAF5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3" name="Google Shape;193;p7"/>
          <p:cNvSpPr/>
          <p:nvPr/>
        </p:nvSpPr>
        <p:spPr>
          <a:xfrm>
            <a:off x="5715000" y="3840480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274320" y="4709160"/>
            <a:ext cx="8595360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Relasi: ProductCategory 1:N Products  ·  Products 1:N Orders  ·  Customers 1:N Orders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2  ·  SQL Query – Foreign Key Constraints (BigQuery)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92608" y="896112"/>
            <a:ext cx="8558784" cy="4041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92608" y="896112"/>
            <a:ext cx="8558784" cy="347472"/>
          </a:xfrm>
          <a:prstGeom prst="rect">
            <a:avLst/>
          </a:prstGeom>
          <a:solidFill>
            <a:srgbClr val="4A28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29768" y="978408"/>
            <a:ext cx="164592" cy="164592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22376" y="978408"/>
            <a:ext cx="164592" cy="164592"/>
          </a:xfrm>
          <a:prstGeom prst="ellipse">
            <a:avLst/>
          </a:prstGeom>
          <a:solidFill>
            <a:srgbClr val="E5C0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1014984" y="978408"/>
            <a:ext cx="164592" cy="164592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1481328" y="941832"/>
            <a:ext cx="718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BB2BF"/>
                </a:solidFill>
                <a:latin typeface="Calibri"/>
                <a:ea typeface="Calibri"/>
                <a:cs typeface="Calibri"/>
                <a:sym typeface="Calibri"/>
              </a:rPr>
              <a:t>BigQuery SQL – Foreign Key Constraints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57200" y="130759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FK: products.Category → product_category.CategoryID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57200" y="1522476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`bank-muamalat-493716.bank_muamalat.products`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57200" y="1737360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ADD CONSTRAINT fk_category FOREIGN KEY (Category)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457200" y="1952244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REFERENCES `bank-muamalat-493716.bank_muamalat.product_category` (CategoryID)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57200" y="1856232"/>
            <a:ext cx="83027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57200" y="238201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FK: orders.CustomerID → customers.CustomerID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457200" y="2596896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`bank-muamalat-493716.bank_muamalat.orders`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457200" y="2811780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ADD CONSTRAINT fk_customer FOREIGN KEY (CustomerID)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3026664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REFERENCES `bank-muamalat-493716.bank_muamalat.customers` (CustomerID)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2542032"/>
            <a:ext cx="8302752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57200" y="3456432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-- FK: orders.ProdNumber → products.ProdNumber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57200" y="3671316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ALTER TABLE `bank-muamalat-493716.bank_muamalat.orders`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" y="3886200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78DD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ADD CONSTRAINT fk_prod FOREIGN KEY (ProdNumber)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457200" y="4101084"/>
            <a:ext cx="8302752" cy="2148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REFERENCES `bank-muamalat-493716.bank_muamalat.products` (ProdNumber) NOT ENFORCED;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ℹ  3 Foreign Key dibuat: fk_category (products→product_category), fk_customer (orders→customers), fk_prod (orders→products).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11480" y="5029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1148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Master Table (SQL)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11480" y="2999232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41148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LEFT JOIN 4 tabel untuk membuat tabel gabungan di Google BigQuery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3  ·  SQL Query – Master Table (LEFT JOIN)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292608" y="896112"/>
            <a:ext cx="5212080" cy="4041648"/>
          </a:xfrm>
          <a:prstGeom prst="rect">
            <a:avLst/>
          </a:prstGeom>
          <a:solidFill>
            <a:srgbClr val="1E1E2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292608" y="896112"/>
            <a:ext cx="5212080" cy="347472"/>
          </a:xfrm>
          <a:prstGeom prst="rect">
            <a:avLst/>
          </a:prstGeom>
          <a:solidFill>
            <a:srgbClr val="4A28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429768" y="978408"/>
            <a:ext cx="164592" cy="164592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22376" y="978408"/>
            <a:ext cx="164592" cy="164592"/>
          </a:xfrm>
          <a:prstGeom prst="ellipse">
            <a:avLst/>
          </a:prstGeom>
          <a:solidFill>
            <a:srgbClr val="E5C0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1014984" y="978408"/>
            <a:ext cx="164592" cy="164592"/>
          </a:xfrm>
          <a:prstGeom prst="ellipse">
            <a:avLst/>
          </a:prstGeom>
          <a:solidFill>
            <a:srgbClr val="98C3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1481328" y="941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ABB2BF"/>
                </a:solidFill>
                <a:latin typeface="Calibri"/>
                <a:ea typeface="Calibri"/>
                <a:cs typeface="Calibri"/>
                <a:sym typeface="Calibri"/>
              </a:rPr>
              <a:t>BigQuery SQL – Master Table Query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1307592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457200" y="1449781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c.CustomerEmail  AS cust_email,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457200" y="1591970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c.CustomerCity   AS cust_city,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1734160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o.Date           AS order_date,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" y="1876349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o.Quantity       AS order_qty,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457200" y="2018538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p.ProdName       AS product_name,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457200" y="2160727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p.Price          AS product_price,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2302916"/>
            <a:ext cx="4956048" cy="1421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BB2B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  pc.CategoryName  AS category_name,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57200" y="3172968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  (o.Quantity * p.Price) AS total_sales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457200" y="3406140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FROM `...bank_muamalat.orders` AS 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457200" y="3639312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LEFT JOIN `...customers`      AS c  ON o.CustomerID = c.CustomerID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457200" y="3872484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LEFT JOIN `...products`       AS p  ON o.ProdNumber  = p.ProdNumber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4105656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LEFT JOIN `...product_category` AS pc ON p.Category = pc.CategoryID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57200" y="4338828"/>
            <a:ext cx="4956048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1AFEF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ORDER BY o.Date ASC;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669280" y="896112"/>
            <a:ext cx="3182112" cy="404164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5669280" y="896112"/>
            <a:ext cx="3182112" cy="38404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760720" y="896112"/>
            <a:ext cx="299923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Kolom Output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669280" y="1280160"/>
            <a:ext cx="3182112" cy="457200"/>
          </a:xfrm>
          <a:prstGeom prst="rect">
            <a:avLst/>
          </a:prstGeom>
          <a:solidFill>
            <a:srgbClr val="F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669280" y="12801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5779008" y="1280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cust_email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7315200" y="12801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669280" y="1737360"/>
            <a:ext cx="3182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5669280" y="1737360"/>
            <a:ext cx="54864" cy="457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779008" y="1737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cust_city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7315200" y="17373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669280" y="2194560"/>
            <a:ext cx="3182112" cy="457200"/>
          </a:xfrm>
          <a:prstGeom prst="rect">
            <a:avLst/>
          </a:prstGeom>
          <a:solidFill>
            <a:srgbClr val="F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5669280" y="2194560"/>
            <a:ext cx="54864" cy="4572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5779008" y="2194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order_date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315200" y="21945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06C75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5669280" y="2651760"/>
            <a:ext cx="3182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5669280" y="2651760"/>
            <a:ext cx="54864" cy="45720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5779008" y="26517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order_qty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315200" y="26517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06C75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06C75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5669280" y="3108960"/>
            <a:ext cx="3182112" cy="457200"/>
          </a:xfrm>
          <a:prstGeom prst="rect">
            <a:avLst/>
          </a:prstGeom>
          <a:solidFill>
            <a:srgbClr val="F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5669280" y="310896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5779008" y="31089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product_name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315200" y="31089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669280" y="3566160"/>
            <a:ext cx="3182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5669280" y="3566160"/>
            <a:ext cx="5486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5779008" y="35661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product_price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7315200" y="35661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669280" y="4023360"/>
            <a:ext cx="3182112" cy="457200"/>
          </a:xfrm>
          <a:prstGeom prst="rect">
            <a:avLst/>
          </a:prstGeom>
          <a:solidFill>
            <a:srgbClr val="F9FB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5669280" y="4023360"/>
            <a:ext cx="54864" cy="45720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5779008" y="40233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category_name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7315200" y="40233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FA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B3FA0"/>
                </a:solidFill>
                <a:latin typeface="Calibri"/>
                <a:ea typeface="Calibri"/>
                <a:cs typeface="Calibri"/>
                <a:sym typeface="Calibri"/>
              </a:rPr>
              <a:t>product_category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5669280" y="4480560"/>
            <a:ext cx="318211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669280" y="4480560"/>
            <a:ext cx="54864" cy="457200"/>
          </a:xfrm>
          <a:prstGeom prst="rect">
            <a:avLst/>
          </a:prstGeom>
          <a:solidFill>
            <a:srgbClr val="E5A7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5779008" y="4480560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total_sales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315200" y="4480560"/>
            <a:ext cx="14813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5A700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5A700"/>
                </a:solidFill>
                <a:latin typeface="Calibri"/>
                <a:ea typeface="Calibri"/>
                <a:cs typeface="Calibri"/>
                <a:sym typeface="Calibri"/>
              </a:rPr>
              <a:t>computed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0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88E3C"/>
                </a:solidFill>
                <a:latin typeface="Calibri"/>
                <a:ea typeface="Calibri"/>
                <a:cs typeface="Calibri"/>
                <a:sym typeface="Calibri"/>
              </a:rPr>
              <a:t>ℹ  LEFT JOIN digunakan agar semua data orders tetap tampil meskipun ada data customers/products yang tidak cocok. Diurutkan ASC by Date.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1"/>
          <p:cNvSpPr/>
          <p:nvPr/>
        </p:nvSpPr>
        <p:spPr>
          <a:xfrm>
            <a:off x="411480" y="5029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1148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Looker Studio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11480" y="2999232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41148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Visualisasi interaktif data penjualan PT Sejahtera Bersama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4  ·  Sales Performance Dashboard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9963" y="894415"/>
            <a:ext cx="5424064" cy="4061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"/>
          <p:cNvSpPr/>
          <p:nvPr/>
        </p:nvSpPr>
        <p:spPr>
          <a:xfrm>
            <a:off x="6583680" y="-1828800"/>
            <a:ext cx="4572000" cy="4572000"/>
          </a:xfrm>
          <a:prstGeom prst="ellipse">
            <a:avLst/>
          </a:prstGeom>
          <a:solidFill>
            <a:srgbClr val="4CAF50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411480" y="502920"/>
            <a:ext cx="2286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11480" y="548640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SOAL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11480" y="19202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Rekomendasi Bisnis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11480" y="2999232"/>
            <a:ext cx="2743200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411480" y="315468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Strategi mempertahankan &amp; meningkatkan penjualan PT Sejahtera Bersama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BF9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0" y="0"/>
            <a:ext cx="128016" cy="777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Soal 5  ·  Business Recommendations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6"/>
          <p:cNvSpPr/>
          <p:nvPr/>
        </p:nvSpPr>
        <p:spPr>
          <a:xfrm>
            <a:off x="292608" y="932688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292608" y="932688"/>
            <a:ext cx="73152" cy="1207008"/>
          </a:xfrm>
          <a:prstGeom prst="rect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6"/>
          <p:cNvSpPr/>
          <p:nvPr/>
        </p:nvSpPr>
        <p:spPr>
          <a:xfrm>
            <a:off x="448056" y="1024128"/>
            <a:ext cx="420624" cy="420624"/>
          </a:xfrm>
          <a:prstGeom prst="ellipse">
            <a:avLst/>
          </a:prstGeom>
          <a:solidFill>
            <a:srgbClr val="6B3F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"/>
          <p:cNvSpPr/>
          <p:nvPr/>
        </p:nvSpPr>
        <p:spPr>
          <a:xfrm>
            <a:off x="448056" y="10241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978408" y="1024128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Bundle High-Value &amp; High-Volume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6"/>
          <p:cNvSpPr/>
          <p:nvPr/>
        </p:nvSpPr>
        <p:spPr>
          <a:xfrm>
            <a:off x="978408" y="1362456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Paket Robot/Drone + eBook/Training Video untuk tingkatkan average order value dan cross-selling.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6"/>
          <p:cNvSpPr/>
          <p:nvPr/>
        </p:nvSpPr>
        <p:spPr>
          <a:xfrm>
            <a:off x="4745736" y="932688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4745736" y="932688"/>
            <a:ext cx="73152" cy="1207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4901184" y="1024128"/>
            <a:ext cx="420624" cy="420624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4901184" y="10241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5431536" y="1024128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Retensi di Kota Top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6"/>
          <p:cNvSpPr/>
          <p:nvPr/>
        </p:nvSpPr>
        <p:spPr>
          <a:xfrm>
            <a:off x="5431536" y="1362456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Loyalty program &amp; targeted promotion di Washington &amp; Houston sebagai dua pasar terkuat.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/>
          <p:nvPr/>
        </p:nvSpPr>
        <p:spPr>
          <a:xfrm>
            <a:off x="292608" y="2322576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6"/>
          <p:cNvSpPr/>
          <p:nvPr/>
        </p:nvSpPr>
        <p:spPr>
          <a:xfrm>
            <a:off x="292608" y="2322576"/>
            <a:ext cx="73152" cy="1207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>
            <a:off x="448056" y="2414016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/>
          <p:nvPr/>
        </p:nvSpPr>
        <p:spPr>
          <a:xfrm>
            <a:off x="448056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/>
          <p:nvPr/>
        </p:nvSpPr>
        <p:spPr>
          <a:xfrm>
            <a:off x="978408" y="2414016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Ekspansi Kota Potensial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978408" y="2752344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Digital marketing campaign ke Philadelphia &amp; San Antonio yang masih memiliki qty rendah.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4745736" y="2322576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/>
          <p:nvPr/>
        </p:nvSpPr>
        <p:spPr>
          <a:xfrm>
            <a:off x="4745736" y="2322576"/>
            <a:ext cx="73152" cy="1207008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6"/>
          <p:cNvSpPr/>
          <p:nvPr/>
        </p:nvSpPr>
        <p:spPr>
          <a:xfrm>
            <a:off x="4901184" y="2414016"/>
            <a:ext cx="420624" cy="420624"/>
          </a:xfrm>
          <a:prstGeom prst="ellipse">
            <a:avLst/>
          </a:prstGeom>
          <a:solidFill>
            <a:srgbClr val="F2A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4901184" y="2414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431536" y="2414016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Upselling Produk Robots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5431536" y="2752344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Jaga stok &amp; after-sales service. Dorong upselling ke varian Robot premium (42.4% revenue).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292608" y="3712464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/>
          <p:nvPr/>
        </p:nvSpPr>
        <p:spPr>
          <a:xfrm>
            <a:off x="292608" y="3712464"/>
            <a:ext cx="73152" cy="1207008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6"/>
          <p:cNvSpPr/>
          <p:nvPr/>
        </p:nvSpPr>
        <p:spPr>
          <a:xfrm>
            <a:off x="448056" y="3803904"/>
            <a:ext cx="420624" cy="420624"/>
          </a:xfrm>
          <a:prstGeom prst="ellipse">
            <a:avLst/>
          </a:prstGeom>
          <a:solidFill>
            <a:srgbClr val="E06C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/>
          <p:nvPr/>
        </p:nvSpPr>
        <p:spPr>
          <a:xfrm>
            <a:off x="448056" y="38039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978408" y="3803904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Investigasi Penurunan Akhir 2021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978408" y="4142232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Analisis penyebab (stok, kompetisi, musiman) dan terapkan promosi akhir tahun korektif.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745736" y="3712464"/>
            <a:ext cx="4206240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4745736" y="3712464"/>
            <a:ext cx="73152" cy="1207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>
            <a:off x="4901184" y="3803904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4901184" y="380390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5431536" y="3803904"/>
            <a:ext cx="34107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Subscription Konten Digital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5431536" y="4142232"/>
            <a:ext cx="3410712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eBooks &amp; Training Videos volume tinggi tapi revenue kecil — terapkan model membership.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FA0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"/>
          <p:cNvSpPr/>
          <p:nvPr/>
        </p:nvSpPr>
        <p:spPr>
          <a:xfrm>
            <a:off x="-1097280" y="2926080"/>
            <a:ext cx="4572000" cy="4572000"/>
          </a:xfrm>
          <a:prstGeom prst="ellipse">
            <a:avLst/>
          </a:prstGeom>
          <a:solidFill>
            <a:srgbClr val="4CAF50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7"/>
          <p:cNvSpPr/>
          <p:nvPr/>
        </p:nvSpPr>
        <p:spPr>
          <a:xfrm>
            <a:off x="6858000" y="-1828800"/>
            <a:ext cx="4114800" cy="4114800"/>
          </a:xfrm>
          <a:prstGeom prst="ellipse">
            <a:avLst/>
          </a:prstGeom>
          <a:solidFill>
            <a:srgbClr val="A5D6A7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"/>
          <p:cNvSpPr/>
          <p:nvPr/>
        </p:nvSpPr>
        <p:spPr>
          <a:xfrm>
            <a:off x="502920" y="118872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Terima Kasih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02920" y="2651760"/>
            <a:ext cx="3657600" cy="6400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>
            <a:off x="502920" y="2834640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Virtual Internship Experience  ·  Bank Muamalat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A5D6A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5D6A7"/>
                </a:solidFill>
                <a:latin typeface="Calibri"/>
                <a:ea typeface="Calibri"/>
                <a:cs typeface="Calibri"/>
                <a:sym typeface="Calibri"/>
              </a:rPr>
              <a:t>BI Analyst Track  |  PT Sejahtera Bersama  |  2025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502920" y="3931920"/>
            <a:ext cx="658368" cy="65836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502920" y="39319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920240" y="3931920"/>
            <a:ext cx="658368" cy="658368"/>
          </a:xfrm>
          <a:prstGeom prst="ellipse">
            <a:avLst/>
          </a:prstGeom>
          <a:solidFill>
            <a:srgbClr val="388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7"/>
          <p:cNvSpPr/>
          <p:nvPr/>
        </p:nvSpPr>
        <p:spPr>
          <a:xfrm>
            <a:off x="1920240" y="39319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3337560" y="3931920"/>
            <a:ext cx="658368" cy="658368"/>
          </a:xfrm>
          <a:prstGeom prst="ellipse">
            <a:avLst/>
          </a:prstGeom>
          <a:solidFill>
            <a:srgbClr val="66BB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3337560" y="39319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4754880" y="3931920"/>
            <a:ext cx="658368" cy="658368"/>
          </a:xfrm>
          <a:prstGeom prst="ellipse">
            <a:avLst/>
          </a:prstGeom>
          <a:solidFill>
            <a:srgbClr val="81C7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4754880" y="39319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6172200" y="3931920"/>
            <a:ext cx="658368" cy="658368"/>
          </a:xfrm>
          <a:prstGeom prst="ellipse">
            <a:avLst/>
          </a:prstGeom>
          <a:solidFill>
            <a:srgbClr val="A5D6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6172200" y="393192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2026-05-04T10:10:04Z</dcterms:created>
  <dc:creator>PptxGenJS</dc:creator>
</cp:coreProperties>
</file>